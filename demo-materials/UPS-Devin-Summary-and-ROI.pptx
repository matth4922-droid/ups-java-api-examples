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63240"/>
            <a:ext cx="146304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Modernizing UPS API Services with Devin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B500"/>
                </a:solidFill>
                <a:latin typeface="Calibri"/>
              </a:rPr>
              <a:t>Java 8 → 21  •  Spring Boot 2.7 → 3.5  •  proven on UPS’s own Track API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What we did, what it proves, and what it is worth to UPS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Summary +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Cognition  •  Devin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starting point: UPS’s public API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github.com/UPS-API/java-api-examples — track, shipping, rating, pickup, timeInTransit,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Java 8 (2014).</a:t>
            </a:r>
            <a:r>
              <a:rPr sz="1700">
                <a:solidFill>
                  <a:srgbClr val="1F1F1F"/>
                </a:solidFill>
                <a:latin typeface="Calibri"/>
              </a:rPr>
              <a:t>  maven.compiler.source/target = 1.8 in every module.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Spring Boot 2.7.4 / Spring 5.3.18.</a:t>
            </a:r>
            <a:r>
              <a:rPr sz="1700">
                <a:solidFill>
                  <a:srgbClr val="1F1F1F"/>
                </a:solidFill>
                <a:latin typeface="Calibri"/>
              </a:rPr>
              <a:t>  Both past open-source support — no free CVE patches.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~240 lines of hand-pinned versions per pom.</a:t>
            </a:r>
            <a:r>
              <a:rPr sz="1700">
                <a:solidFill>
                  <a:srgbClr val="1F1F1F"/>
                </a:solidFill>
                <a:latin typeface="Calibri"/>
              </a:rPr>
              <a:t>  CVE band-aids for commons-io, plexus, snakeyaml, jackson, … that drift out of date.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JUnit 4, javax.* generated clients.</a:t>
            </a:r>
            <a:r>
              <a:rPr sz="1700">
                <a:solidFill>
                  <a:srgbClr val="1F1F1F"/>
                </a:solidFill>
                <a:latin typeface="Calibri"/>
              </a:rPr>
              <a:t>  Blocks the Jakarta EE 9+/Boot 3 ecosystem.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Does not compile on JDK 21.</a:t>
            </a:r>
            <a:r>
              <a:rPr sz="1700">
                <a:solidFill>
                  <a:srgbClr val="1F1F1F"/>
                </a:solidFill>
                <a:latin typeface="Calibri"/>
              </a:rPr>
              <a:t>  Lombok 1.18.24 crashes the JDK 21 compiler (NoSuchFieldError: JCTree$JCImport.qualid).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371600"/>
            <a:ext cx="4846320" cy="448056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508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Why this matters to 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Track and Ship are revenue-and-SLA systems, not toy CRUD apps.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Unsupported frameworks = open CVE exposure a product-security lead has to carry.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UPS job postings already ask for Java 17/21 + Spring Boot on OpenShift — the codebase lags the hiring bar.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Same pom shape repeats across ~10 example modules and many internal Spring services.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Devin did: one session, one merged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Fork → ingest → reproduce failure → plan → upgrade → build/test → PR → Devin Review → merge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1  Ingest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37160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48132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Cloned the fork, mapped the track module: OAuth client-credentials + Track GET via generated RestTemplate clients.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2  Reproduce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33172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4414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Proved the baseline: builds on JDK 17, fails to compile on JDK 21.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9300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3 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329184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40156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Boot parent 2.7.4 → 3.5.16, java.version 21, OpenAPI Generator 7.25 with useJakartaEe=true, JaCoCo 0.8.12; deleted ~240 pinned lines the Boot BOM now manages.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5312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4  Harden tests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425196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36168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New offline test: OAuth POST → Bearer → Track GET → parsed response via MockRestServiceServer (no UPS credentials). Live CIE tests gated behind UPS_CIE_TESTS=true.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21208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1324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5  Verify &amp; 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521208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0" y="532180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mvn clean package on JDK 21: BUILD SUCCESS, 1 passed / 3 skipped, zero javax.annotation in generated code. PR with before/after evidence; Devin Review: no issues.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51C15"/>
                </a:solidFill>
                <a:latin typeface="Calibri"/>
              </a:rPr>
              <a:t>Hand-written application code untouched — the entire change is pom.xml + test hardening (+85 / −243 lines).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Before / after: the evidence on the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Every number below is reproduced in the PR description and the recorded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main (before)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 #1 (after)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mvn clean package on JDK 17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mvn clean package on JDK 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FAILS — Lombok vs JDK 21 javac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Java / Spring Boot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8 / 2.7.4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21 / 3.5.16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spring-web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5.3.18 (EOL)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6.2.19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jackson-databind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2.14.0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2.21.4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snakeyaml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1.33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Generated client annotations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javax.annotation.*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jakarta.annotation.*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pom.xml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265 lines, ~20 plugin pin blocks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−240 lines; Boot BOM manages versions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 live calls needing UPS CIE credentials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 offline happy-path test; live tests opt-in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Devin Review on the PR: “No Issues Found”.  Same recipe repeated on shipping (PR #5, 381 → 158 pom lines); next: rating, pickup, timeInTransit,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this lands for 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Security, scale, engineer time,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Retire the CVE 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Boot 2.7 / Spring 5.3 / Java 8 are unpatched in SLA-critical Track &amp; Ship paths. Devin turns “we should upgrade” into a reviewed PR in a 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Scale across the estate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~10 example modules and many internal Spring services share this pom shape. Prove the recipe once; Devin runs it in parallel — module N costs minutes of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Engineers review, not grind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Transitive versions, Jakarta namespace, generator flags, dead pins, Lombok/JaCoCo/JDK compatibility — the work seniors hate is what Devin does well.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Audit-ready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Every PR ships the failing baseline, passing build, dependency deltas and credential-free tests — what a change board or product-security lead actually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Hiring &amp;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Java 21 + Boot 3 matches the roles UPS is hiring for and unlocks virtual threads, observability and native images on OpenShift.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9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A repeatable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Ingest → plan → code → build/test → PR → Devin Review → merge, with a persisted JDK 21 environment so each next run starts warm.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Proof point: Mercedes-Benz — COBOL modernization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Same legacy-modernization pattern as UPS’s Java 8 estate, on an older and harder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The 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Who.</a:t>
            </a:r>
            <a:r>
              <a:rPr sz="1400">
                <a:solidFill>
                  <a:srgbClr val="1F1F1F"/>
                </a:solidFill>
                <a:latin typeface="Calibri"/>
              </a:rPr>
              <a:t>  Mercedes-Benz global engineering — software behind R&amp;D, logistics, cloud infrastructure and enterprise operations across the US, Europe and Asia.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The problem.</a:t>
            </a:r>
            <a:r>
              <a:rPr sz="1400">
                <a:solidFill>
                  <a:srgbClr val="1F1F1F"/>
                </a:solidFill>
                <a:latin typeface="Calibri"/>
              </a:rPr>
              <a:t>  A legacy COBOL estate that had to be understood and modernized without compromising reliability, stability or security.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What Devin did.</a:t>
            </a:r>
            <a:r>
              <a:rPr sz="1400">
                <a:solidFill>
                  <a:srgbClr val="1F1F1F"/>
                </a:solidFill>
                <a:latin typeface="Calibri"/>
              </a:rPr>
              <a:t>  In a four-week pilot, analyzed 200,000+ lines of COBOL and carried the modernization work that engineers had estimated at eight months.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Outcome.</a:t>
            </a:r>
            <a:r>
              <a:rPr sz="1400">
                <a:solidFill>
                  <a:srgbClr val="1F1F1F"/>
                </a:solidFill>
                <a:latin typeface="Calibri"/>
              </a:rPr>
              <a:t>  Modernization time cut from ~8 months to 8 days. Mercedes-Benz then deployed the full Cognition suite (Devin, Windsurf, Devin for Terminal) across R&amp;D and IT.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Why it maps to UPS.</a:t>
            </a:r>
            <a:r>
              <a:rPr sz="1400">
                <a:solidFill>
                  <a:srgbClr val="1F1F1F"/>
                </a:solidFill>
                <a:latin typeface="Calibri"/>
              </a:rPr>
              <a:t>  Same shape: large, aging codebase; engineers review rather than rewrite; evidence-driven change in systems the business cannot afford to break.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200,000+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lines of COBOL analyzed by Devin in the pilot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8 mo → 8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estimated modernization time vs 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Scale of deployment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One of the most extensive AI software-engineering deployments in the automotive industry — global R&amp;D and IT teams on three continents.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Source: cognition.com/blog/mercedes-benz-cognition (Apr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Proof point: GE Aerospace — ~2×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Revenue-and-safety-critical software, engineers directing and reviewing Devin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What GE Aerospace gets from Devin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Nearly 2× output.</a:t>
            </a:r>
            <a:r>
              <a:rPr sz="1400">
                <a:solidFill>
                  <a:srgbClr val="1F1F1F"/>
                </a:solidFill>
                <a:latin typeface="Calibri"/>
              </a:rPr>
              <a:t>  One GE Aerospace Software-as-a-Service team nearly doubled its engineering output after rolling out Devin.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More enhancements shipped.</a:t>
            </a:r>
            <a:r>
              <a:rPr sz="1400">
                <a:solidFill>
                  <a:srgbClr val="1F1F1F"/>
                </a:solidFill>
                <a:latin typeface="Calibri"/>
              </a:rPr>
              <a:t>  Stated ambition: deliver more software enhancements to customers while raising the bar for quality — not trading one for the other.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End-to-end, not autocomplete.</a:t>
            </a:r>
            <a:r>
              <a:rPr sz="1400">
                <a:solidFill>
                  <a:srgbClr val="1F1F1F"/>
                </a:solidFill>
                <a:latin typeface="Calibri"/>
              </a:rPr>
              <a:t>  Devin works across the lifecycle — writing code, then carrying it through testing, review and iteration.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Engineers stay in control.</a:t>
            </a:r>
            <a:r>
              <a:rPr sz="1400">
                <a:solidFill>
                  <a:srgbClr val="1F1F1F"/>
                </a:solidFill>
                <a:latin typeface="Calibri"/>
              </a:rPr>
              <a:t>  GE engineers direct and review the work throughout; Devin adds capacity, the team keeps accountability.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Where it runs.</a:t>
            </a:r>
            <a:r>
              <a:rPr sz="1400">
                <a:solidFill>
                  <a:srgbClr val="1F1F1F"/>
                </a:solidFill>
                <a:latin typeface="Calibri"/>
              </a:rPr>
              <a:t>  Software that optimizes routes, reduces fuel burn and monitors anomalies for airlines — GE engines power 3 of 4 commercial flights. High-stakes, like Track and Ship.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~2×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engineering output on one GE Aerospace SaaS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3 of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commercial flights worldwide powered by GE Aerospace engines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The UPS parallel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Same operating model we propose here: Devin does the upgrade grind and verification; UPS engineers plan, review and merge.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Source: GE Aerospace Software-as-a-Service and Cognition posts on LinkedIn (Aug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cost per service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Outside-in model; assumptions stated. Replace with UPS-internal rates to calibrate.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237744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Effort per module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Rate assumption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per module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In-house senior Java engineer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2–6 eng-weeks (dependency triage, Jakarta, test repair, review)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$4–5k / week fully loaded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$10k – $30k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SI / contractors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Same effort + onboarding, knowledge walks out the door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$150–250 / hr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$25k – $60k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Devin + engineer review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Hours of compute + 2–4 hrs human review &amp; merge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~$100 compute + reviewer time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$0.5k – $1.5k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90 – 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lower unit cost per service upgrade vs in-house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Days →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wall-clock per module; modules run in parallel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~$15 – 25k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saved per service (midpoint vs in-house)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Effort ranges reflect a service of the track/shipping shape (generated clients, Spring RestTemplate, no web layer). Larger internal services skew toward the top of the range for humans; Devin’s compute cost rises far less.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Devin cost is order-of-magnitude from this session (tens of ACUs at list pricing) plus reviewer time at the in-house rate.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across a 100-service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Scales linearly; UPS likely has more than 100 Spring services in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(100 services)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time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In-house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$1.5M – $3M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12–18 months, sequential, competes with roadmap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SI / contractors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$2.5M – $6M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6–12 months, plus procurement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Devin + review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$50k – $150k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Weeks — modules run in parallel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$1.5M – $5M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direct labor savings per 100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4 – 8 eng-yrs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returned to revenue features per 100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Avoided cost (larger, harder to bound)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49039"/>
            <a:ext cx="6949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Breach / incident risk.</a:t>
            </a:r>
            <a:r>
              <a:rPr sz="1300">
                <a:solidFill>
                  <a:srgbClr val="1F1F1F"/>
                </a:solidFill>
                <a:latin typeface="Calibri"/>
              </a:rPr>
              <a:t>  US-average breach cost $9.4M (IBM 2024). Expected loss from the unpatched estate: ~$0.5–2M per year — see next slide.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Commercial Java support.</a:t>
            </a:r>
            <a:r>
              <a:rPr sz="1300">
                <a:solidFill>
                  <a:srgbClr val="1F1F1F"/>
                </a:solidFill>
                <a:latin typeface="Calibri"/>
              </a:rPr>
              <a:t>  Any Java 8 estate on Oracle support is billed per employee — material at UPS headcount. Retiring it removes the line item.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Platform efficiency.</a:t>
            </a:r>
            <a:r>
              <a:rPr sz="1300">
                <a:solidFill>
                  <a:srgbClr val="1F1F1F"/>
                </a:solidFill>
                <a:latin typeface="Calibri"/>
              </a:rPr>
              <a:t>  Boot 3 / Java 21 virtual threads and native images lower OpenShift footprint for the same traffic.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The pitch line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“~$15–25k saved per service, months to weeks, and the security exposure ends this quarter instead of next year.”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the cost of a breach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Expected-loss view of running Spring 5.3 / Boot 2.7 / Java 8 past end of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Benchmark (IBM Cost of a Data Breach 2024)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Per incident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Global average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$4.88M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United States average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$9.36M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Mean time to identify + contain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258 days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Not included: SLA credits, shipper churn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UPS-internal figures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5204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51C15"/>
                </a:solidFill>
                <a:latin typeface="Calibri"/>
              </a:rPr>
              <a:t>Expected loss / yr  =  annual breach probability  ×  cost per breach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182880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Annual probability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basis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Expected loss / yr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Conservative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$4.88M global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$0.24M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$9.36M US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$0.94M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Adverse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$9.36M US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$1.87M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$0.9M /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base-case expected loss avoided by retiring the EOL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~6–19×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base-case avoided loss vs. Devin cost of upgrading 100 services ($50–150k)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Why the probability is non-zero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Spring Framework 5.3 left OSS support Aug 2024 and Boot 2.7 in Nov 2023: new CVEs get no free patch. Spring4Shell (CVE-2022-22965) hit exactly this 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6928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Calibri"/>
              </a:rPr>
              <a:t>Probabilities are placeholders for UPS product-security to replace with their own risk register. Benchmarks are per-incident averages, not UPS figures; a single Track/Ship incident is the whole number, not the expected value.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UPS cost and revenue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Cost is the proven pile of cash; revenue quality is why the AI program exists. Both depend on current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51C15"/>
                </a:solidFill>
                <a:latin typeface="Calibri"/>
              </a:rPr>
              <a:t>Cost — already quantified by 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577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~$3.5B</a:t>
            </a:r>
            <a:r>
              <a:rPr sz="1200">
                <a:solidFill>
                  <a:srgbClr val="1F1F1F"/>
                </a:solidFill>
                <a:latin typeface="Calibri"/>
              </a:rPr>
              <a:t>  Network Reconfiguration + Efficiency Reimagined savings in 2025.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~$4.5B</a:t>
            </a:r>
            <a:r>
              <a:rPr sz="1200">
                <a:solidFill>
                  <a:srgbClr val="1F1F1F"/>
                </a:solidFill>
                <a:latin typeface="Calibri"/>
              </a:rPr>
              <a:t>  expense removed via the Amazon glide-down (~2M pieces/day of low-yield volume out).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~$3B</a:t>
            </a:r>
            <a:r>
              <a:rPr sz="1200">
                <a:solidFill>
                  <a:srgbClr val="1F1F1F"/>
                </a:solidFill>
                <a:latin typeface="Calibri"/>
              </a:rPr>
              <a:t>  program benefits targeted for FY26; ~$1.2B booked in 1H26.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28% cheaper/piece</a:t>
            </a:r>
            <a:r>
              <a:rPr sz="1200">
                <a:solidFill>
                  <a:srgbClr val="1F1F1F"/>
                </a:solidFill>
                <a:latin typeface="Calibri"/>
              </a:rPr>
              <a:t>  in automated buildings; automation at ~68.5% of U.S. volume; RFID removes hundreds of millions of manual scans/yr.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51C15"/>
                </a:solidFill>
                <a:latin typeface="Calibri"/>
              </a:rPr>
              <a:t>Revenue — better mix after the reset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7373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~$91.2B</a:t>
            </a:r>
            <a:r>
              <a:rPr sz="1200">
                <a:solidFill>
                  <a:srgbClr val="1F1F1F"/>
                </a:solidFill>
                <a:latin typeface="Calibri"/>
              </a:rPr>
              <a:t>  FY26 revenue guidance, raised from ~$89.7B; adj. operating profit ~$8.65B.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$22.8B, +7.6% YoY</a:t>
            </a:r>
            <a:r>
              <a:rPr sz="1200">
                <a:solidFill>
                  <a:srgbClr val="1F1F1F"/>
                </a:solidFill>
                <a:latin typeface="Calibri"/>
              </a:rPr>
              <a:t>  Q2 2026 revenue after a planned volume cut; U.S. Domestic adj. OP +20%+.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Mix</a:t>
            </a:r>
            <a:r>
              <a:rPr sz="1200">
                <a:solidFill>
                  <a:srgbClr val="1F1F1F"/>
                </a:solidFill>
                <a:latin typeface="Calibri"/>
              </a:rPr>
              <a:t>  SMB 34.5% of U.S. volume (+250 bps); healthcare logistics &gt;$3B/qtr; DAP &gt;$1.4B, B2B DAP +34%.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51C15"/>
                </a:solidFill>
                <a:latin typeface="Calibri"/>
              </a:rPr>
              <a:t>■  Stickiness</a:t>
            </a:r>
            <a:r>
              <a:rPr sz="1200">
                <a:solidFill>
                  <a:srgbClr val="1F1F1F"/>
                </a:solidFill>
                <a:latin typeface="Calibri"/>
              </a:rPr>
              <a:t>  Control towers, RFID visibility, Happy Returns and AI brokerage keep SMB / healthcare / industrial shippers from dual-sourcing lanes.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840480"/>
          <a:ext cx="111556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6576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June 2026 AI initiative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If it works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P&amp;L effect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Tracking + AI assistants on &gt;98% of CS requests by YE26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Fewer calls, faster claims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Cost first, then retention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RFID + AI package-level tracking, digital twin (10-min refresh)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Fewer manual scans, self-healing network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Cost (labor, idle assets)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Agentic control towers; AI brokerage / customs (97% first-day entry)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Exception mgmt for big shippers; predictable landed cost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Revenue (enterprise, cross-border, SMB)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5257800"/>
            <a:ext cx="11155680" cy="77724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32180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The June AI program does not replace the $3B–$4.5B cost takeout; it converts it into higher-quality revenue and a network that still works when volume returns. That only holds if Track, Ship, Rate, brokerage and the digital twin stay current — a Java 8 / Boot 2.7 estate under those APIs is a business problem, not a tidy-up.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53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Calibri"/>
              </a:rPr>
              <a:t>Sources: UPS June 18, 2026 AI release; UPS Q2 2026 earnings / FY26 guidance. Savings are booked by UPS to network redesign and mix — not attributed to AI.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From one proven module to a portfolio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46304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554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shipping module — PR #5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2024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Same recipe on the next revenue module: 381 → 158 pom lines, 10 live CIE tests gated, new offline OAuth → Ship happy-path test, green on JDK 21. main still fails today — the live ‘before’ for the meeting.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346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Done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56032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Close the loop with CI — PR #4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01752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GitHub Actions builds upgraded modules on JDK 21 on every PR, so each Devin PR ends in a visible green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Next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365760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Pilot on one internal UPS Spring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1148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Same before/after evidence format, UPS-internal rates plugged into the ROI model, inside UPS’s repo and review process.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Then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475488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Portfolio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21208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Inventory Spring 2.x / Java 8 services; Devin runs the upgrade in parallel, engineers review, product-security gets the evidence pack.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