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51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063240"/>
            <a:ext cx="1463040" cy="73152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Modernizing UPS API Services with Devin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B500"/>
                </a:solidFill>
                <a:latin typeface="Calibri"/>
              </a:rPr>
              <a:t>Java 8 → 21  •  Spring Boot 2.7 → 3.5  •  proven on UPS’s own Track API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What we did, what it proves, and what it is worth to UPS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Summary + ROI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B500"/>
                </a:solidFill>
                <a:latin typeface="Calibri"/>
              </a:rPr>
              <a:t>Cognition  •  Devin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51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starting point: UPS’s public API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B500"/>
                </a:solidFill>
                <a:latin typeface="Calibri"/>
              </a:rPr>
              <a:t>github.com/UPS-API/java-api-examples — track, shipping, rating, pickup, timeInTransit,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320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B500"/>
                </a:solidFill>
                <a:latin typeface="Calibri"/>
              </a:rPr>
              <a:t>Devin  ×  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700">
                <a:solidFill>
                  <a:srgbClr val="351C15"/>
                </a:solidFill>
                <a:latin typeface="Calibri"/>
              </a:rPr>
              <a:t>■  Java 8 (2014).</a:t>
            </a:r>
            <a:r>
              <a:rPr sz="1700">
                <a:solidFill>
                  <a:srgbClr val="1F1F1F"/>
                </a:solidFill>
                <a:latin typeface="Calibri"/>
              </a:rPr>
              <a:t>  maven.compiler.source/target = 1.8 in every module.</a:t>
            </a:r>
          </a:p>
          <a:p>
            <a:pPr>
              <a:spcAft>
                <a:spcPts val="600"/>
              </a:spcAft>
            </a:pPr>
            <a:r>
              <a:rPr b="1" sz="1700">
                <a:solidFill>
                  <a:srgbClr val="351C15"/>
                </a:solidFill>
                <a:latin typeface="Calibri"/>
              </a:rPr>
              <a:t>■  Spring Boot 2.7.4 / Spring 5.3.18.</a:t>
            </a:r>
            <a:r>
              <a:rPr sz="1700">
                <a:solidFill>
                  <a:srgbClr val="1F1F1F"/>
                </a:solidFill>
                <a:latin typeface="Calibri"/>
              </a:rPr>
              <a:t>  Both past open-source support — no free CVE patches.</a:t>
            </a:r>
          </a:p>
          <a:p>
            <a:pPr>
              <a:spcAft>
                <a:spcPts val="600"/>
              </a:spcAft>
            </a:pPr>
            <a:r>
              <a:rPr b="1" sz="1700">
                <a:solidFill>
                  <a:srgbClr val="351C15"/>
                </a:solidFill>
                <a:latin typeface="Calibri"/>
              </a:rPr>
              <a:t>■  ~240 lines of hand-pinned versions per pom.</a:t>
            </a:r>
            <a:r>
              <a:rPr sz="1700">
                <a:solidFill>
                  <a:srgbClr val="1F1F1F"/>
                </a:solidFill>
                <a:latin typeface="Calibri"/>
              </a:rPr>
              <a:t>  CVE band-aids for commons-io, plexus, snakeyaml, jackson, … that drift out of date.</a:t>
            </a:r>
          </a:p>
          <a:p>
            <a:pPr>
              <a:spcAft>
                <a:spcPts val="600"/>
              </a:spcAft>
            </a:pPr>
            <a:r>
              <a:rPr b="1" sz="1700">
                <a:solidFill>
                  <a:srgbClr val="351C15"/>
                </a:solidFill>
                <a:latin typeface="Calibri"/>
              </a:rPr>
              <a:t>■  JUnit 4, javax.* generated clients.</a:t>
            </a:r>
            <a:r>
              <a:rPr sz="1700">
                <a:solidFill>
                  <a:srgbClr val="1F1F1F"/>
                </a:solidFill>
                <a:latin typeface="Calibri"/>
              </a:rPr>
              <a:t>  Blocks the Jakarta EE 9+/Boot 3 ecosystem.</a:t>
            </a:r>
          </a:p>
          <a:p>
            <a:pPr>
              <a:spcAft>
                <a:spcPts val="600"/>
              </a:spcAft>
            </a:pPr>
            <a:r>
              <a:rPr b="1" sz="1700">
                <a:solidFill>
                  <a:srgbClr val="351C15"/>
                </a:solidFill>
                <a:latin typeface="Calibri"/>
              </a:rPr>
              <a:t>■  Does not compile on JDK 21.</a:t>
            </a:r>
            <a:r>
              <a:rPr sz="1700">
                <a:solidFill>
                  <a:srgbClr val="1F1F1F"/>
                </a:solidFill>
                <a:latin typeface="Calibri"/>
              </a:rPr>
              <a:t>  Lombok 1.18.24 crashes the JDK 21 compiler (NoSuchFieldError: JCTree$JCImport.qualid).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371600"/>
            <a:ext cx="4846320" cy="4480560"/>
          </a:xfrm>
          <a:prstGeom prst="rect">
            <a:avLst/>
          </a:prstGeom>
          <a:solidFill>
            <a:srgbClr val="F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5087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51C15"/>
                </a:solidFill>
                <a:latin typeface="Calibri"/>
              </a:rPr>
              <a:t>Why this matters to 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01168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1F1F"/>
                </a:solidFill>
                <a:latin typeface="Calibri"/>
              </a:rPr>
              <a:t>■  Track and Ship are revenue-and-SLA systems, not toy CRUD apps.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1F1F"/>
                </a:solidFill>
                <a:latin typeface="Calibri"/>
              </a:rPr>
              <a:t>■  Unsupported frameworks = open CVE exposure a product-security lead has to carry.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1F1F"/>
                </a:solidFill>
                <a:latin typeface="Calibri"/>
              </a:rPr>
              <a:t>■  UPS job postings already ask for Java 17/21 + Spring Boot on OpenShift — the codebase lags the hiring bar.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1F1F"/>
                </a:solidFill>
                <a:latin typeface="Calibri"/>
              </a:rPr>
              <a:t>■  Same pom shape repeats across ~10 example modules and many internal Spring services.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Fork of UPS-API/java-api-examples  •  PR #1 merged: github.com/matth4922-droid/UPS-java-api-examples/pull/1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51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Devin did: one session, one merged 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B500"/>
                </a:solidFill>
                <a:latin typeface="Calibri"/>
              </a:rPr>
              <a:t>Fork → ingest → reproduce failure → plan → upgrade → build/test → PR → Devin Review → merge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320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B500"/>
                </a:solidFill>
                <a:latin typeface="Calibri"/>
              </a:rPr>
              <a:t>Devin  ×  UPS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920240" cy="868680"/>
          </a:xfrm>
          <a:prstGeom prst="rect">
            <a:avLst/>
          </a:prstGeom>
          <a:solidFill>
            <a:srgbClr val="351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72768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B500"/>
                </a:solidFill>
                <a:latin typeface="Calibri"/>
              </a:rPr>
              <a:t>1  Ingest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371600"/>
            <a:ext cx="9144000" cy="868680"/>
          </a:xfrm>
          <a:prstGeom prst="rect">
            <a:avLst/>
          </a:prstGeom>
          <a:solidFill>
            <a:srgbClr val="F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48132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Calibri"/>
              </a:rPr>
              <a:t>Cloned the fork, mapped the track module: OAuth client-credentials + Track GET via generated RestTemplate clients.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1920240" cy="868680"/>
          </a:xfrm>
          <a:prstGeom prst="rect">
            <a:avLst/>
          </a:prstGeom>
          <a:solidFill>
            <a:srgbClr val="351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32888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B500"/>
                </a:solidFill>
                <a:latin typeface="Calibri"/>
              </a:rPr>
              <a:t>2  Reproduce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331720"/>
            <a:ext cx="9144000" cy="868680"/>
          </a:xfrm>
          <a:prstGeom prst="rect">
            <a:avLst/>
          </a:prstGeom>
          <a:solidFill>
            <a:srgbClr val="F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244144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Calibri"/>
              </a:rPr>
              <a:t>Proved the baseline: builds on JDK 17, fails to compile on JDK 21.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91840"/>
            <a:ext cx="1920240" cy="868680"/>
          </a:xfrm>
          <a:prstGeom prst="rect">
            <a:avLst/>
          </a:prstGeom>
          <a:solidFill>
            <a:srgbClr val="351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93008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B500"/>
                </a:solidFill>
                <a:latin typeface="Calibri"/>
              </a:rPr>
              <a:t>3  Upgrade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3291840"/>
            <a:ext cx="9144000" cy="868680"/>
          </a:xfrm>
          <a:prstGeom prst="rect">
            <a:avLst/>
          </a:prstGeom>
          <a:solidFill>
            <a:srgbClr val="F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340156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Calibri"/>
              </a:rPr>
              <a:t>Boot parent 2.7.4 → 3.5.16, java.version 21, OpenAPI Generator 7.25 with useJakartaEe=true, JaCoCo 0.8.12; deleted ~240 pinned lines the Boot BOM now manages.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51960"/>
            <a:ext cx="1920240" cy="868680"/>
          </a:xfrm>
          <a:prstGeom prst="rect">
            <a:avLst/>
          </a:prstGeom>
          <a:solidFill>
            <a:srgbClr val="351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53128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B500"/>
                </a:solidFill>
                <a:latin typeface="Calibri"/>
              </a:rPr>
              <a:t>4  Harden tests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4251960"/>
            <a:ext cx="9144000" cy="868680"/>
          </a:xfrm>
          <a:prstGeom prst="rect">
            <a:avLst/>
          </a:prstGeom>
          <a:solidFill>
            <a:srgbClr val="F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436168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Calibri"/>
              </a:rPr>
              <a:t>New offline test: OAuth POST → Bearer → Track GET → parsed response via MockRestServiceServer (no UPS credentials). Live CIE tests gated behind UPS_CIE_TESTS=true.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12080"/>
            <a:ext cx="1920240" cy="868680"/>
          </a:xfrm>
          <a:prstGeom prst="rect">
            <a:avLst/>
          </a:prstGeom>
          <a:solidFill>
            <a:srgbClr val="351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413248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B500"/>
                </a:solidFill>
                <a:latin typeface="Calibri"/>
              </a:rPr>
              <a:t>5  Verify &amp; ship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5212080"/>
            <a:ext cx="9144000" cy="868680"/>
          </a:xfrm>
          <a:prstGeom prst="rect">
            <a:avLst/>
          </a:prstGeom>
          <a:solidFill>
            <a:srgbClr val="F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5321808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Calibri"/>
              </a:rPr>
              <a:t>mvn clean package on JDK 21: BUILD SUCCESS, 1 passed / 3 skipped, zero javax.annotation in generated code. PR with before/after evidence; Devin Review: no issues.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51C15"/>
                </a:solidFill>
                <a:latin typeface="Calibri"/>
              </a:rPr>
              <a:t>Hand-written application code untouched — the entire change is pom.xml + test hardening (+85 / −243 lines).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Fork of UPS-API/java-api-examples  •  PR #1 merged: github.com/matth4922-droid/UPS-java-api-examples/pull/1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51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Before / after: the evidence on the 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B500"/>
                </a:solidFill>
                <a:latin typeface="Calibri"/>
              </a:rPr>
              <a:t>Every number below is reproduced in the PR description and the recorded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320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B500"/>
                </a:solidFill>
                <a:latin typeface="Calibri"/>
              </a:rPr>
              <a:t>Devin  ×  UPS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3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657600"/>
                <a:gridCol w="36576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36576" marB="36576">
                    <a:solidFill>
                      <a:srgbClr val="351C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main (before)</a:t>
                      </a:r>
                    </a:p>
                  </a:txBody>
                  <a:tcPr marL="91440" marR="91440" marT="36576" marB="36576">
                    <a:solidFill>
                      <a:srgbClr val="351C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 #1 (after)</a:t>
                      </a:r>
                    </a:p>
                  </a:txBody>
                  <a:tcPr marL="91440" marR="91440" marT="36576" marB="36576">
                    <a:solidFill>
                      <a:srgbClr val="351C1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mvn clean package on JDK 17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passes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passes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mvn clean package on JDK 21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392B"/>
                          </a:solidFill>
                          <a:latin typeface="Calibri"/>
                        </a:rPr>
                        <a:t>FAILS — Lombok vs JDK 21 javac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8E3E"/>
                          </a:solidFill>
                          <a:latin typeface="Calibri"/>
                        </a:rPr>
                        <a:t>passes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Java / Spring Boot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8 / 2.7.4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8E3E"/>
                          </a:solidFill>
                          <a:latin typeface="Calibri"/>
                        </a:rPr>
                        <a:t>21 / 3.5.16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spring-web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5.3.18 (EOL)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6.2.19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jackson-databind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2.14.0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2.21.4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snakeyaml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1.33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2.4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Generated client annotations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javax.annotation.*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jakarta.annotation.*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pom.xml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265 lines, ~20 plugin pin blocks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−240 lines; Boot BOM manages versions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Tests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3 live calls needing UPS CIE credentials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+ offline happy-path test; live tests opt-in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Devin Review on the PR: “No Issues Found”.  Same recipe repeated on shipping (PR #5, 381 → 158 pom lines); next: rating, pickup, timeInTransit,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Fork of UPS-API/java-api-examples  •  PR #1 merged: github.com/matth4922-droid/UPS-java-api-examples/pull/1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51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Why this lands for 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B500"/>
                </a:solidFill>
                <a:latin typeface="Calibri"/>
              </a:rPr>
              <a:t>Security, scale, engineer time, and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320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B500"/>
                </a:solidFill>
                <a:latin typeface="Calibri"/>
              </a:rPr>
              <a:t>Devin  ×  UPS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566160" cy="2240280"/>
          </a:xfrm>
          <a:prstGeom prst="rect">
            <a:avLst/>
          </a:prstGeom>
          <a:solidFill>
            <a:srgbClr val="F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3566160" cy="73152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51C15"/>
                </a:solidFill>
                <a:latin typeface="Calibri"/>
              </a:rPr>
              <a:t>Retire the CVE exposure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Calibri"/>
              </a:rPr>
              <a:t>Boot 2.7 / Spring 5.3 / Java 8 are unpatched in SLA-critical Track &amp; Ship paths. Devin turns “we should upgrade” into a reviewed PR in a day.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371600"/>
            <a:ext cx="3566160" cy="2240280"/>
          </a:xfrm>
          <a:prstGeom prst="rect">
            <a:avLst/>
          </a:prstGeom>
          <a:solidFill>
            <a:srgbClr val="F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371600"/>
            <a:ext cx="3566160" cy="73152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51C15"/>
                </a:solidFill>
                <a:latin typeface="Calibri"/>
              </a:rPr>
              <a:t>Scale across the estate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0574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Calibri"/>
              </a:rPr>
              <a:t>~10 example modules and many internal Spring services share this pom shape. Prove the recipe once; Devin runs it in parallel — module N costs minutes of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1371600"/>
            <a:ext cx="3566160" cy="2240280"/>
          </a:xfrm>
          <a:prstGeom prst="rect">
            <a:avLst/>
          </a:prstGeom>
          <a:solidFill>
            <a:srgbClr val="F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371600"/>
            <a:ext cx="3566160" cy="73152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9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51C15"/>
                </a:solidFill>
                <a:latin typeface="Calibri"/>
              </a:rPr>
              <a:t>Engineers review, not grind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20574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Calibri"/>
              </a:rPr>
              <a:t>Transitive versions, Jakarta namespace, generator flags, dead pins, Lombok/JaCoCo/JDK compatibility — the work seniors hate is what Devin does well.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3566160" cy="2240280"/>
          </a:xfrm>
          <a:prstGeom prst="rect">
            <a:avLst/>
          </a:prstGeom>
          <a:solidFill>
            <a:srgbClr val="F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794760"/>
            <a:ext cx="3566160" cy="73152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77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51C15"/>
                </a:solidFill>
                <a:latin typeface="Calibri"/>
              </a:rPr>
              <a:t>Audit-ready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805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Calibri"/>
              </a:rPr>
              <a:t>Every PR ships the failing baseline, passing build, dependency deltas and credential-free tests — what a change board or product-security lead actually needs.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79" y="3794760"/>
            <a:ext cx="3566160" cy="2240280"/>
          </a:xfrm>
          <a:prstGeom prst="rect">
            <a:avLst/>
          </a:prstGeom>
          <a:solidFill>
            <a:srgbClr val="F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79" y="3794760"/>
            <a:ext cx="3566160" cy="73152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3977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51C15"/>
                </a:solidFill>
                <a:latin typeface="Calibri"/>
              </a:rPr>
              <a:t>Hiring &amp;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44805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Calibri"/>
              </a:rPr>
              <a:t>Java 21 + Boot 3 matches the roles UPS is hiring for and unlocks virtual threads, observability and native images on OpenShift.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19" y="3794760"/>
            <a:ext cx="3566160" cy="2240280"/>
          </a:xfrm>
          <a:prstGeom prst="rect">
            <a:avLst/>
          </a:prstGeom>
          <a:solidFill>
            <a:srgbClr val="F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19" y="3794760"/>
            <a:ext cx="3566160" cy="73152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9" y="3977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51C15"/>
                </a:solidFill>
                <a:latin typeface="Calibri"/>
              </a:rPr>
              <a:t>A repeatable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9" y="44805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Calibri"/>
              </a:rPr>
              <a:t>Ingest → plan → code → build/test → PR → Devin Review → merge, with a persisted JDK 21 environment so each next run starts warm.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Fork of UPS-API/java-api-examples  •  PR #1 merged: github.com/matth4922-droid/UPS-java-api-examples/pull/1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51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ROI — cost per service upgrade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B500"/>
                </a:solidFill>
                <a:latin typeface="Calibri"/>
              </a:rPr>
              <a:t>Outside-in model; assumptions stated. Replace with UPS-internal rates to calibrate.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320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B500"/>
                </a:solidFill>
                <a:latin typeface="Calibri"/>
              </a:rPr>
              <a:t>Devin  ×  UPS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2377440"/>
                <a:gridCol w="19202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91440" marR="91440" marT="36576" marB="36576">
                    <a:solidFill>
                      <a:srgbClr val="351C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Effort per module</a:t>
                      </a:r>
                    </a:p>
                  </a:txBody>
                  <a:tcPr marL="91440" marR="91440" marT="36576" marB="36576">
                    <a:solidFill>
                      <a:srgbClr val="351C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Rate assumption</a:t>
                      </a:r>
                    </a:p>
                  </a:txBody>
                  <a:tcPr marL="91440" marR="91440" marT="36576" marB="36576">
                    <a:solidFill>
                      <a:srgbClr val="351C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Cost per module</a:t>
                      </a:r>
                    </a:p>
                  </a:txBody>
                  <a:tcPr marL="91440" marR="91440" marT="36576" marB="36576">
                    <a:solidFill>
                      <a:srgbClr val="351C1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In-house senior Java engineer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2–6 eng-weeks (dependency triage, Jakarta, test repair, review)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$4–5k / week fully loaded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392B"/>
                          </a:solidFill>
                          <a:latin typeface="Calibri"/>
                        </a:rPr>
                        <a:t>$10k – $30k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SI / contractors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Same effort + onboarding, knowledge walks out the door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$150–250 / hr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392B"/>
                          </a:solidFill>
                          <a:latin typeface="Calibri"/>
                        </a:rPr>
                        <a:t>$25k – $60k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Devin + engineer review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Hours of compute + 2–4 hrs human review &amp; merge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~$100 compute + reviewer time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8E3E"/>
                          </a:solidFill>
                          <a:latin typeface="Calibri"/>
                        </a:rPr>
                        <a:t>$0.5k – $1.5k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3657600"/>
            <a:ext cx="3566160" cy="1417320"/>
          </a:xfrm>
          <a:prstGeom prst="rect">
            <a:avLst/>
          </a:prstGeom>
          <a:solidFill>
            <a:srgbClr val="F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73152" cy="1417320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51C15"/>
                </a:solidFill>
                <a:latin typeface="Calibri"/>
              </a:rPr>
              <a:t>90 – 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805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lower unit cost per service upgrade vs in-house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3657600"/>
            <a:ext cx="3566160" cy="1417320"/>
          </a:xfrm>
          <a:prstGeom prst="rect">
            <a:avLst/>
          </a:prstGeom>
          <a:solidFill>
            <a:srgbClr val="F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3657600"/>
            <a:ext cx="73152" cy="1417320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7490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51C15"/>
                </a:solidFill>
                <a:latin typeface="Calibri"/>
              </a:rPr>
              <a:t>Days →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4805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wall-clock per module; modules run in parallel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3657600"/>
            <a:ext cx="3566160" cy="1417320"/>
          </a:xfrm>
          <a:prstGeom prst="rect">
            <a:avLst/>
          </a:prstGeom>
          <a:solidFill>
            <a:srgbClr val="F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3657600"/>
            <a:ext cx="73152" cy="1417320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37490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51C15"/>
                </a:solidFill>
                <a:latin typeface="Calibri"/>
              </a:rPr>
              <a:t>~$15 – 25k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4805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saved per service (midpoint vs in-house)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492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Effort ranges reflect a service of the track/shipping shape (generated clients, Spring RestTemplate, no web layer). Larger internal services skew toward the top of the range for humans; Devin’s compute cost rises far less.</a:t>
            </a:r>
          </a:p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Devin cost is order-of-magnitude from this session (tens of ACUs at list pricing) plus reviewer time at the in-house rate.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Fork of UPS-API/java-api-examples  •  PR #1 merged: github.com/matth4922-droid/UPS-java-api-examples/pull/1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51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ROI — across a 100-service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B500"/>
                </a:solidFill>
                <a:latin typeface="Calibri"/>
              </a:rPr>
              <a:t>Scales linearly; UPS likely has more than 100 Spring services in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320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B500"/>
                </a:solidFill>
                <a:latin typeface="Calibri"/>
              </a:rPr>
              <a:t>Devin  ×  UPS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69494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8346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91440" marR="91440" marT="36576" marB="36576">
                    <a:solidFill>
                      <a:srgbClr val="351C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Cost (100 services)</a:t>
                      </a:r>
                    </a:p>
                  </a:txBody>
                  <a:tcPr marL="91440" marR="91440" marT="36576" marB="36576">
                    <a:solidFill>
                      <a:srgbClr val="351C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Calendar time</a:t>
                      </a:r>
                    </a:p>
                  </a:txBody>
                  <a:tcPr marL="91440" marR="91440" marT="36576" marB="36576">
                    <a:solidFill>
                      <a:srgbClr val="351C1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In-house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392B"/>
                          </a:solidFill>
                          <a:latin typeface="Calibri"/>
                        </a:rPr>
                        <a:t>$1.5M – $3M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12–18 months, sequential, competes with roadmap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SI / contractors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392B"/>
                          </a:solidFill>
                          <a:latin typeface="Calibri"/>
                        </a:rPr>
                        <a:t>$2.5M – $6M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6–12 months, plus procurement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Devin + review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8E3E"/>
                          </a:solidFill>
                          <a:latin typeface="Calibri"/>
                        </a:rPr>
                        <a:t>$50k – $150k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Weeks — modules run in parallel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0" y="1371600"/>
            <a:ext cx="3840480" cy="1417320"/>
          </a:xfrm>
          <a:prstGeom prst="rect">
            <a:avLst/>
          </a:prstGeom>
          <a:solidFill>
            <a:srgbClr val="F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371600"/>
            <a:ext cx="73152" cy="1417320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4630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51C15"/>
                </a:solidFill>
                <a:latin typeface="Calibri"/>
              </a:rPr>
              <a:t>$1.5M – $5M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1945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direct labor savings per 100 services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3017520"/>
            <a:ext cx="3840480" cy="1417320"/>
          </a:xfrm>
          <a:prstGeom prst="rect">
            <a:avLst/>
          </a:prstGeom>
          <a:solidFill>
            <a:srgbClr val="F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3017520"/>
            <a:ext cx="73152" cy="1417320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310896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51C15"/>
                </a:solidFill>
                <a:latin typeface="Calibri"/>
              </a:rPr>
              <a:t>4 – 8 eng-yrs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8404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returned to revenue features per 100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51C15"/>
                </a:solidFill>
                <a:latin typeface="Calibri"/>
              </a:rPr>
              <a:t>Avoided cost (larger, harder to bound)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49039"/>
            <a:ext cx="6949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351C15"/>
                </a:solidFill>
                <a:latin typeface="Calibri"/>
              </a:rPr>
              <a:t>■  Breach / incident risk.</a:t>
            </a:r>
            <a:r>
              <a:rPr sz="1300">
                <a:solidFill>
                  <a:srgbClr val="1F1F1F"/>
                </a:solidFill>
                <a:latin typeface="Calibri"/>
              </a:rPr>
              <a:t>  US-average breach cost $9.4M (IBM 2024). Expected loss from the unpatched estate: ~$0.5–2M per year — see next slide.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351C15"/>
                </a:solidFill>
                <a:latin typeface="Calibri"/>
              </a:rPr>
              <a:t>■  Commercial Java support.</a:t>
            </a:r>
            <a:r>
              <a:rPr sz="1300">
                <a:solidFill>
                  <a:srgbClr val="1F1F1F"/>
                </a:solidFill>
                <a:latin typeface="Calibri"/>
              </a:rPr>
              <a:t>  Any Java 8 estate on Oracle support is billed per employee — material at UPS headcount. Retiring it removes the line item.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351C15"/>
                </a:solidFill>
                <a:latin typeface="Calibri"/>
              </a:rPr>
              <a:t>■  Platform efficiency.</a:t>
            </a:r>
            <a:r>
              <a:rPr sz="1300">
                <a:solidFill>
                  <a:srgbClr val="1F1F1F"/>
                </a:solidFill>
                <a:latin typeface="Calibri"/>
              </a:rPr>
              <a:t>  Boot 3 / Java 21 virtual threads and native images lower OpenShift footprint for the same traffic.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4663440"/>
            <a:ext cx="3840480" cy="1554480"/>
          </a:xfrm>
          <a:prstGeom prst="rect">
            <a:avLst/>
          </a:prstGeom>
          <a:solidFill>
            <a:srgbClr val="351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475488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The pitch line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“~$15–25k saved per service, months to weeks, and the security exposure ends this quarter instead of next year.”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Fork of UPS-API/java-api-examples  •  PR #1 merged: github.com/matth4922-droid/UPS-java-api-examples/pull/1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51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ROI — the cost of a breach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B500"/>
                </a:solidFill>
                <a:latin typeface="Calibri"/>
              </a:rPr>
              <a:t>Expected-loss view of running Spring 5.3 / Boot 2.7 / Java 8 past end of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320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B500"/>
                </a:solidFill>
                <a:latin typeface="Calibri"/>
              </a:rPr>
              <a:t>Devin  ×  UPS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6949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Benchmark (IBM Cost of a Data Breach 2024)</a:t>
                      </a:r>
                    </a:p>
                  </a:txBody>
                  <a:tcPr marL="91440" marR="91440" marT="36576" marB="36576">
                    <a:solidFill>
                      <a:srgbClr val="351C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Per incident</a:t>
                      </a:r>
                    </a:p>
                  </a:txBody>
                  <a:tcPr marL="91440" marR="91440" marT="36576" marB="36576">
                    <a:solidFill>
                      <a:srgbClr val="351C1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Global average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392B"/>
                          </a:solidFill>
                          <a:latin typeface="Calibri"/>
                        </a:rPr>
                        <a:t>$4.88M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United States average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392B"/>
                          </a:solidFill>
                          <a:latin typeface="Calibri"/>
                        </a:rPr>
                        <a:t>$9.36M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Mean time to identify + contain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258 days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Not included: SLA credits, shipper churn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UPS-internal figures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52044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51C15"/>
                </a:solidFill>
                <a:latin typeface="Calibri"/>
              </a:rPr>
              <a:t>Expected loss / yr  =  annual breach probability  ×  cost per breach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977639"/>
          <a:ext cx="69494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645920"/>
                <a:gridCol w="1828800"/>
                <a:gridCol w="19202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91440" marR="91440" marT="36576" marB="36576">
                    <a:solidFill>
                      <a:srgbClr val="351C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Annual probability</a:t>
                      </a:r>
                    </a:p>
                  </a:txBody>
                  <a:tcPr marL="91440" marR="91440" marT="36576" marB="36576">
                    <a:solidFill>
                      <a:srgbClr val="351C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Cost basis</a:t>
                      </a:r>
                    </a:p>
                  </a:txBody>
                  <a:tcPr marL="91440" marR="91440" marT="36576" marB="36576">
                    <a:solidFill>
                      <a:srgbClr val="351C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Expected loss / yr</a:t>
                      </a:r>
                    </a:p>
                  </a:txBody>
                  <a:tcPr marL="91440" marR="91440" marT="36576" marB="36576">
                    <a:solidFill>
                      <a:srgbClr val="351C1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Conservative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$4.88M global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392B"/>
                          </a:solidFill>
                          <a:latin typeface="Calibri"/>
                        </a:rPr>
                        <a:t>$0.24M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$9.36M US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392B"/>
                          </a:solidFill>
                          <a:latin typeface="Calibri"/>
                        </a:rPr>
                        <a:t>$0.94M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Adverse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$9.36M US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392B"/>
                          </a:solidFill>
                          <a:latin typeface="Calibri"/>
                        </a:rPr>
                        <a:t>$1.87M</a:t>
                      </a:r>
                    </a:p>
                  </a:txBody>
                  <a:tcPr marL="91440" marR="91440" marT="36576" marB="36576">
                    <a:solidFill>
                      <a:srgbClr val="F4F1EE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772400" y="1371600"/>
            <a:ext cx="3840480" cy="1417320"/>
          </a:xfrm>
          <a:prstGeom prst="rect">
            <a:avLst/>
          </a:prstGeom>
          <a:solidFill>
            <a:srgbClr val="F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1371600"/>
            <a:ext cx="73152" cy="1417320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4630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51C15"/>
                </a:solidFill>
                <a:latin typeface="Calibri"/>
              </a:rPr>
              <a:t>$0.9M / yr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1945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base-case expected loss avoided by retiring the EOL stack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017520"/>
            <a:ext cx="3840480" cy="1417320"/>
          </a:xfrm>
          <a:prstGeom prst="rect">
            <a:avLst/>
          </a:prstGeom>
          <a:solidFill>
            <a:srgbClr val="F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3017520"/>
            <a:ext cx="73152" cy="1417320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310896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51C15"/>
                </a:solidFill>
                <a:latin typeface="Calibri"/>
              </a:rPr>
              <a:t>~6–19×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8404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base-case avoided loss vs. Devin cost of upgrading 100 services ($50–150k)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4663440"/>
            <a:ext cx="3840480" cy="1554480"/>
          </a:xfrm>
          <a:prstGeom prst="rect">
            <a:avLst/>
          </a:prstGeom>
          <a:solidFill>
            <a:srgbClr val="351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475488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Why the probability is non-zero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Spring Framework 5.3 left OSS support Aug 2024 and Boot 2.7 in Nov 2023: new CVEs get no free patch. Spring4Shell (CVE-2022-22965) hit exactly this 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69280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Probabilities are placeholders for UPS product-security to replace with their own risk register. Benchmarks are per-incident averages, not UPS figures; a single Track/Ship incident is the whole number, not the expected value.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Fork of UPS-API/java-api-examples  •  PR #1 merged: github.com/matth4922-droid/UPS-java-api-examples/pull/1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51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B500"/>
                </a:solidFill>
                <a:latin typeface="Calibri"/>
              </a:rPr>
              <a:t>From one proven module to a portfolio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320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B500"/>
                </a:solidFill>
                <a:latin typeface="Calibri"/>
              </a:rPr>
              <a:t>Devin  ×  UPS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88720" cy="960120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51C15"/>
                </a:solidFill>
                <a:latin typeface="Calibri"/>
              </a:rPr>
              <a:t>Done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463040"/>
            <a:ext cx="9875520" cy="960120"/>
          </a:xfrm>
          <a:prstGeom prst="rect">
            <a:avLst/>
          </a:prstGeom>
          <a:solidFill>
            <a:srgbClr val="F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5544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51C15"/>
                </a:solidFill>
                <a:latin typeface="Calibri"/>
              </a:rPr>
              <a:t>shipping module — PR #5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920240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Calibri"/>
              </a:rPr>
              <a:t>Same recipe on the next revenue module: 381 → 158 pom lines, 10 live CIE tests gated, new offline OAuth → Ship happy-path test, green on JDK 21. main still fails today — the live ‘before’ for the meeting.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188720" cy="960120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346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51C15"/>
                </a:solidFill>
                <a:latin typeface="Calibri"/>
              </a:rPr>
              <a:t>Done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2560320"/>
            <a:ext cx="9875520" cy="960120"/>
          </a:xfrm>
          <a:prstGeom prst="rect">
            <a:avLst/>
          </a:prstGeom>
          <a:solidFill>
            <a:srgbClr val="F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26517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51C15"/>
                </a:solidFill>
                <a:latin typeface="Calibri"/>
              </a:rPr>
              <a:t>Close the loop with CI — PR #4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017520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Calibri"/>
              </a:rPr>
              <a:t>GitHub Actions builds upgraded modules on JDK 21 on every PR, so each Devin PR ends in a visible green check.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88720" cy="960120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51C15"/>
                </a:solidFill>
                <a:latin typeface="Calibri"/>
              </a:rPr>
              <a:t>Next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3657600"/>
            <a:ext cx="9875520" cy="960120"/>
          </a:xfrm>
          <a:prstGeom prst="rect">
            <a:avLst/>
          </a:prstGeom>
          <a:solidFill>
            <a:srgbClr val="F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374904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51C15"/>
                </a:solidFill>
                <a:latin typeface="Calibri"/>
              </a:rPr>
              <a:t>Pilot on one internal UPS Spring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114800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Calibri"/>
              </a:rPr>
              <a:t>Same before/after evidence format, UPS-internal rates plugged into the ROI model, inside UPS’s repo and review process.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54880"/>
            <a:ext cx="1188720" cy="960120"/>
          </a:xfrm>
          <a:prstGeom prst="rect">
            <a:avLst/>
          </a:prstGeom>
          <a:solidFill>
            <a:srgbClr val="FFB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0292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51C15"/>
                </a:solidFill>
                <a:latin typeface="Calibri"/>
              </a:rPr>
              <a:t>Then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4754880"/>
            <a:ext cx="9875520" cy="960120"/>
          </a:xfrm>
          <a:prstGeom prst="rect">
            <a:avLst/>
          </a:prstGeom>
          <a:solidFill>
            <a:srgbClr val="F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20240" y="484632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51C15"/>
                </a:solidFill>
                <a:latin typeface="Calibri"/>
              </a:rPr>
              <a:t>Portfolio run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212080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Calibri"/>
              </a:rPr>
              <a:t>Inventory Spring 2.x / Java 8 services; Devin runs the upgrade in parallel, engineers review, product-security gets the evidence pack.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Fork of UPS-API/java-api-examples  •  PR #1 merged: github.com/matth4922-droid/UPS-java-api-examples/pull/1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